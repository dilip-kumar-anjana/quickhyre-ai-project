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34A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4F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930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8A5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SARIMA</c:v>
                  </c:pt>
                  <c:pt idx="1">
                    <c:v>Prophet</c:v>
                  </c:pt>
                  <c:pt idx="2">
                    <c:v>XGBoost</c:v>
                  </c:pt>
                  <c:pt idx="3">
                    <c:v>LSTM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21.3</c:v>
                </c:pt>
                <c:pt idx="1">
                  <c:v>32.5</c:v>
                </c:pt>
                <c:pt idx="2">
                  <c:v>22.5</c:v>
                </c:pt>
                <c:pt idx="3">
                  <c:v>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601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2057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time series pipeline · 43 US states · Auto model selection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670048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534AB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6700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2670048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6700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2670048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E8930A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26700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2670048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D94F3D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26700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777240"/>
            <a:ext cx="2468880" cy="74980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813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11795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2468880" cy="74980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7739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8,084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139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2697480"/>
            <a:ext cx="2468880" cy="74980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7340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3099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657600"/>
            <a:ext cx="2468880" cy="74980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wk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0" y="40599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23360" cy="18288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16152"/>
            <a:ext cx="40233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     | Date        | Total        | Category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Alabama   | 2019-01-12  | 109,574,036  | Beverages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Arizona   | 2019-01-12  | 109,101,594  | Beverages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California | 2019-01-12  | 444,766,890  | Beverages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34840" y="1755648"/>
            <a:ext cx="50292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45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57800" y="923544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32120" y="886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clean dates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11338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pd.to_datetime, coerce errors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57800" y="1399032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1399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32120" y="1362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→ weekly (W)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16093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resample('W').sum()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57800" y="187452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874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32120" y="18379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gaps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32120" y="20848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interpolate(method='time', limit=2)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57800" y="2350008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2350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32120" y="2313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rows per state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2560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states × 256 weeks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480560"/>
            <a:ext cx="8503920" cy="411480"/>
          </a:xfrm>
          <a:prstGeom prst="rect">
            <a:avLst/>
          </a:prstGeom>
          <a:solidFill>
            <a:srgbClr val="E0F4F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 weekly time series per state — ready for feature engineering and model training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14800" cy="1810512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41248"/>
            <a:ext cx="4114800" cy="34747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26187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lag_1w  — 1 week back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48132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lag_4w  — 4 weeks back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170078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lag_8w  — 8 weeks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192024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lag_13w — 13 weeks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213969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lag_26w — 26 weeks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235915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lag_52w — 52 weeks (YoY)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41248"/>
            <a:ext cx="4114800" cy="1810512"/>
          </a:xfrm>
          <a:prstGeom prst="rect">
            <a:avLst/>
          </a:prstGeom>
          <a:solidFill>
            <a:srgbClr val="E0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841248"/>
            <a:ext cx="411480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Statistics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9472" y="126187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roll_mean  4w / 8w / 13w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9472" y="148132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roll_std   4w / 8w / 13w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9472" y="170078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roll_min  13w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472" y="192024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roll_max  13w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9472" y="213969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All use .shift(1)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235915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zero data leakage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852928"/>
            <a:ext cx="4114800" cy="1810512"/>
          </a:xfrm>
          <a:prstGeom prst="rect">
            <a:avLst/>
          </a:prstGeom>
          <a:solidFill>
            <a:srgbClr val="FFF3DC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2852928"/>
            <a:ext cx="4114800" cy="347472"/>
          </a:xfrm>
          <a:prstGeom prst="rect">
            <a:avLst/>
          </a:prstGeom>
          <a:solidFill>
            <a:srgbClr val="E8930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Features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" y="327355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(1–12)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" y="349300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 (1–4)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" y="371246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week_of_year (ISO)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" y="393192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day_of_week (0–6)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852928"/>
            <a:ext cx="4114800" cy="1810512"/>
          </a:xfrm>
          <a:prstGeom prst="rect">
            <a:avLst/>
          </a:prstGeom>
          <a:solidFill>
            <a:srgbClr val="FDE8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2852928"/>
            <a:ext cx="4114800" cy="347472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Indicator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327355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is_holiday = 1 if any US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9472" y="349300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federal holiday within the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371246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7-day calendar week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clean layers · strict separation of concerns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1417320" cy="67665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78992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28800" y="1078992"/>
            <a:ext cx="6995160" cy="676656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1078992"/>
            <a:ext cx="6720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DataPreprocessor · Excel/CSV loader · resample · feature engineering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7556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1417320" cy="676656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975104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0" y="1975104"/>
            <a:ext cx="6995160" cy="676656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1975104"/>
            <a:ext cx="6720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SARIMAForecaster · ProphetForecaster · XGBoostForecaster · LSTMForecaster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1417320" cy="67665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871216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LAYER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2871216"/>
            <a:ext cx="6995160" cy="676656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1965960" y="2871216"/>
            <a:ext cx="6720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ModelRegistry · train/val split · evaluate · auto-select best model · pickle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35478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767328"/>
            <a:ext cx="1417320" cy="676656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767328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3767328"/>
            <a:ext cx="6995160" cy="676656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965960" y="3767328"/>
            <a:ext cx="6720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/forecast · /summary · /train/{state} · /health · JSON responses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Logic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9808" y="8229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822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25880" y="1106424"/>
            <a:ext cx="457200" cy="0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85416" y="822960"/>
            <a:ext cx="566928" cy="56692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1" name="Text 9"/>
          <p:cNvSpPr/>
          <p:nvPr/>
        </p:nvSpPr>
        <p:spPr>
          <a:xfrm>
            <a:off x="2185416" y="822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55648" y="1463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Split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55648" y="1737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8 wks = val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61488" y="1106424"/>
            <a:ext cx="457200" cy="0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1024" y="822960"/>
            <a:ext cx="566928" cy="566928"/>
          </a:xfrm>
          <a:prstGeom prst="ellipse">
            <a:avLst/>
          </a:prstGeom>
          <a:solidFill>
            <a:srgbClr val="E8930A"/>
          </a:solidFill>
          <a:ln/>
        </p:spPr>
      </p:sp>
      <p:sp>
        <p:nvSpPr>
          <p:cNvPr id="16" name="Text 14"/>
          <p:cNvSpPr/>
          <p:nvPr/>
        </p:nvSpPr>
        <p:spPr>
          <a:xfrm>
            <a:off x="3621024" y="822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91256" y="1463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× 4 Models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91256" y="1737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97096" y="1106424"/>
            <a:ext cx="457200" cy="0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6632" y="822960"/>
            <a:ext cx="566928" cy="566928"/>
          </a:xfrm>
          <a:prstGeom prst="ellipse">
            <a:avLst/>
          </a:prstGeom>
          <a:solidFill>
            <a:srgbClr val="D94F3D"/>
          </a:solidFill>
          <a:ln/>
        </p:spPr>
      </p:sp>
      <p:sp>
        <p:nvSpPr>
          <p:cNvPr id="21" name="Text 19"/>
          <p:cNvSpPr/>
          <p:nvPr/>
        </p:nvSpPr>
        <p:spPr>
          <a:xfrm>
            <a:off x="5056632" y="822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26864" y="1463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26864" y="1737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RMSE·MAE·MAPE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32704" y="1106424"/>
            <a:ext cx="457200" cy="0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822960"/>
            <a:ext cx="566928" cy="566928"/>
          </a:xfrm>
          <a:prstGeom prst="ellipse">
            <a:avLst/>
          </a:prstGeom>
          <a:solidFill>
            <a:srgbClr val="1A8A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822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62472" y="1463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Winner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62472" y="1737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RMSE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68312" y="1106424"/>
            <a:ext cx="457200" cy="0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7848" y="822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927848" y="822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98080" y="1463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on Full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98080" y="1737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2148840"/>
            <a:ext cx="8503920" cy="1874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22128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registry.py — automatic model selection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502920" y="2459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model in [SARIMA(), Prophet(), XGBoost(), LSTM()]: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02920" y="27066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model.fit(train_df)                    # strict chrono split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502920" y="295351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preds   = model.predict(horizon=8)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502920" y="32004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 = evaluate(actual, preds)      # RMSE · MAE · MAPE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502920" y="34472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min(results, key=lambda m: m['rmse'])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502920" y="3694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best.fit(full_df)   # refit winner on 100% of data before serving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holdout · Georgia &amp; Alabama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011680" cy="224028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78992"/>
            <a:ext cx="2011680" cy="40233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789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81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7922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587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50592" y="1078992"/>
            <a:ext cx="2011680" cy="2240280"/>
          </a:xfrm>
          <a:prstGeom prst="rect">
            <a:avLst/>
          </a:prstGeom>
          <a:solidFill>
            <a:srgbClr val="FDE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1078992"/>
            <a:ext cx="2011680" cy="402336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10789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50592" y="1581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50592" y="17922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50592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50592" y="2587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179M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26864" y="1078992"/>
            <a:ext cx="2011680" cy="2240280"/>
          </a:xfrm>
          <a:prstGeom prst="rect">
            <a:avLst/>
          </a:prstGeom>
          <a:solidFill>
            <a:srgbClr val="FFF3DC"/>
          </a:solidFill>
          <a:ln/>
        </p:spPr>
      </p:sp>
      <p:sp>
        <p:nvSpPr>
          <p:cNvPr id="20" name="Shape 18"/>
          <p:cNvSpPr/>
          <p:nvPr/>
        </p:nvSpPr>
        <p:spPr>
          <a:xfrm>
            <a:off x="4626864" y="1078992"/>
            <a:ext cx="2011680" cy="402336"/>
          </a:xfrm>
          <a:prstGeom prst="rect">
            <a:avLst/>
          </a:prstGeom>
          <a:solidFill>
            <a:srgbClr val="E8930A"/>
          </a:solidFill>
          <a:ln/>
        </p:spPr>
      </p:sp>
      <p:sp>
        <p:nvSpPr>
          <p:cNvPr id="21" name="Text 19"/>
          <p:cNvSpPr/>
          <p:nvPr/>
        </p:nvSpPr>
        <p:spPr>
          <a:xfrm>
            <a:off x="4626864" y="10789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26864" y="1581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6864" y="17922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626864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26864" y="2587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126M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03136" y="1078992"/>
            <a:ext cx="2011680" cy="2240280"/>
          </a:xfrm>
          <a:prstGeom prst="rect">
            <a:avLst/>
          </a:prstGeom>
          <a:solidFill>
            <a:srgbClr val="E0F5EC"/>
          </a:solidFill>
          <a:ln/>
        </p:spPr>
      </p:sp>
      <p:sp>
        <p:nvSpPr>
          <p:cNvPr id="27" name="Shape 25"/>
          <p:cNvSpPr/>
          <p:nvPr/>
        </p:nvSpPr>
        <p:spPr>
          <a:xfrm>
            <a:off x="6803136" y="1078992"/>
            <a:ext cx="2011680" cy="224028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1A8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1078992"/>
            <a:ext cx="2011680" cy="402336"/>
          </a:xfrm>
          <a:prstGeom prst="rect">
            <a:avLst/>
          </a:prstGeom>
          <a:solidFill>
            <a:srgbClr val="1A8A5A"/>
          </a:solidFill>
          <a:ln/>
        </p:spPr>
      </p:sp>
      <p:sp>
        <p:nvSpPr>
          <p:cNvPr id="29" name="Text 27"/>
          <p:cNvSpPr/>
          <p:nvPr/>
        </p:nvSpPr>
        <p:spPr>
          <a:xfrm>
            <a:off x="6803136" y="10789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 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03136" y="1581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03136" y="17922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803136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03136" y="2587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274320" y="3493008"/>
            <a:ext cx="8595360" cy="475488"/>
          </a:xfrm>
          <a:prstGeom prst="rect">
            <a:avLst/>
          </a:prstGeom>
          <a:solidFill>
            <a:srgbClr val="E0F5EC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4930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LSTM automatically selected as best model per state · Refitted on full dataset · Served via API</a:t>
            </a:r>
            <a:endParaRPr lang="en-US" sz="12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274320" y="4041648"/>
          <a:ext cx="859536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FastAPI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658368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24128" y="822960"/>
            <a:ext cx="2103120" cy="38404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822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/forecast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82296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 N weeks for a state (default: 8)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658368" cy="38404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898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24128" y="1389888"/>
            <a:ext cx="2103120" cy="38404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60704" y="13898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38988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43 available states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956816"/>
            <a:ext cx="658368" cy="384048"/>
          </a:xfrm>
          <a:prstGeom prst="rect">
            <a:avLst/>
          </a:prstGeom>
          <a:solidFill>
            <a:srgbClr val="E8930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95681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24128" y="1956816"/>
            <a:ext cx="2103120" cy="38404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60704" y="19568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/summary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195681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leaderboard sorted by RMSE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523744"/>
            <a:ext cx="658368" cy="384048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52374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24128" y="2523744"/>
            <a:ext cx="2103120" cy="38404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60704" y="25237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/train/{state}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46120" y="252374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a single state on demand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090672"/>
            <a:ext cx="658368" cy="384048"/>
          </a:xfrm>
          <a:prstGeom prst="rect">
            <a:avLst/>
          </a:prstGeom>
          <a:solidFill>
            <a:srgbClr val="1A8A5A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0906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24128" y="3090672"/>
            <a:ext cx="2103120" cy="38404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60704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309067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 — states loaded &amp; trained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694176"/>
            <a:ext cx="8503920" cy="1234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57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Response →  GET /forecast?state=Georgia&amp;horizon=2&amp;show_comparison=true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3749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"state": "Georgia",  "model_used": "LSTM",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" y="401421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"forecast": [{ "week": "2023-12-10", "sales": 420668605 }, ...],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" y="4279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"model_comparison": { "SARIMA": { "rmse": 154508696, "mape": 21.33 },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" y="454456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"LSTM":   { "rmse": 120173819, "mape":  6.81 } } 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· Scalable · Extensible · Documented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1618488" cy="384048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783080"/>
            <a:ext cx="54864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783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data/preprocessor.py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30552" y="1783080"/>
            <a:ext cx="1618488" cy="384048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9" name="Shape 7"/>
          <p:cNvSpPr/>
          <p:nvPr/>
        </p:nvSpPr>
        <p:spPr>
          <a:xfrm>
            <a:off x="2130552" y="1783080"/>
            <a:ext cx="54864" cy="38404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783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models/sarima_model.py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9624" y="1783080"/>
            <a:ext cx="1618488" cy="384048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9624" y="1783080"/>
            <a:ext cx="54864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959352" y="1783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models/prophet_model.py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68696" y="1783080"/>
            <a:ext cx="1618488" cy="384048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5568696" y="1783080"/>
            <a:ext cx="54864" cy="384048"/>
          </a:xfrm>
          <a:prstGeom prst="rect">
            <a:avLst/>
          </a:prstGeom>
          <a:solidFill>
            <a:srgbClr val="E8930A"/>
          </a:solidFill>
          <a:ln/>
        </p:spPr>
      </p:sp>
      <p:sp>
        <p:nvSpPr>
          <p:cNvPr id="16" name="Text 14"/>
          <p:cNvSpPr/>
          <p:nvPr/>
        </p:nvSpPr>
        <p:spPr>
          <a:xfrm>
            <a:off x="5678424" y="1783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models/xgboost_model.py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87768" y="1783080"/>
            <a:ext cx="1618488" cy="384048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1783080"/>
            <a:ext cx="54864" cy="384048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9" name="Text 17"/>
          <p:cNvSpPr/>
          <p:nvPr/>
        </p:nvSpPr>
        <p:spPr>
          <a:xfrm>
            <a:off x="7397496" y="1783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models/lstm_model.py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313432"/>
            <a:ext cx="1618488" cy="384048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313432"/>
            <a:ext cx="54864" cy="384048"/>
          </a:xfrm>
          <a:prstGeom prst="rect">
            <a:avLst/>
          </a:prstGeom>
          <a:solidFill>
            <a:srgbClr val="1A8A5A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2313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models/evaluation.py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30552" y="2313432"/>
            <a:ext cx="1618488" cy="384048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130552" y="2313432"/>
            <a:ext cx="54864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2240280" y="2313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models/registry.py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9624" y="2313432"/>
            <a:ext cx="1618488" cy="384048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9624" y="2313432"/>
            <a:ext cx="54864" cy="384048"/>
          </a:xfrm>
          <a:prstGeom prst="rect">
            <a:avLst/>
          </a:prstGeom>
          <a:solidFill>
            <a:srgbClr val="E8930A"/>
          </a:solidFill>
          <a:ln/>
        </p:spPr>
      </p:sp>
      <p:sp>
        <p:nvSpPr>
          <p:cNvPr id="28" name="Text 26"/>
          <p:cNvSpPr/>
          <p:nvPr/>
        </p:nvSpPr>
        <p:spPr>
          <a:xfrm>
            <a:off x="3959352" y="2313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api/app.py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68696" y="2313432"/>
            <a:ext cx="1618488" cy="384048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5568696" y="2313432"/>
            <a:ext cx="54864" cy="38404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1" name="Text 29"/>
          <p:cNvSpPr/>
          <p:nvPr/>
        </p:nvSpPr>
        <p:spPr>
          <a:xfrm>
            <a:off x="5678424" y="2313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87768" y="2313432"/>
            <a:ext cx="1618488" cy="384048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7287768" y="2313432"/>
            <a:ext cx="54864" cy="384048"/>
          </a:xfrm>
          <a:prstGeom prst="rect">
            <a:avLst/>
          </a:prstGeom>
          <a:solidFill>
            <a:srgbClr val="1A8A5A"/>
          </a:solidFill>
          <a:ln/>
        </p:spPr>
      </p:sp>
      <p:sp>
        <p:nvSpPr>
          <p:cNvPr id="34" name="Text 32"/>
          <p:cNvSpPr/>
          <p:nvPr/>
        </p:nvSpPr>
        <p:spPr>
          <a:xfrm>
            <a:off x="7397496" y="2313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demo.py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090672"/>
            <a:ext cx="1965960" cy="868680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1455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11480" y="36210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MAPE (LSTM)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0" y="3090672"/>
            <a:ext cx="1965960" cy="868680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0" y="31455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2560320" y="36210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files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090672"/>
            <a:ext cx="1965960" cy="868680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31455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709160" y="36210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supported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58000" y="3090672"/>
            <a:ext cx="1965960" cy="868680"/>
          </a:xfrm>
          <a:prstGeom prst="rect">
            <a:avLst/>
          </a:prstGeom>
          <a:solidFill>
            <a:srgbClr val="1C2A4A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0" y="31455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6858000" y="36210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42245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 → train all 43 states  ·  demo.py → quick validation  ·  uvicorn api/app:app → serve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Forecasting System</dc:title>
  <dc:subject>PptxGenJS Presentation</dc:subject>
  <dc:creator>Senior Data Scientist</dc:creator>
  <cp:lastModifiedBy>Senior Data Scientist</cp:lastModifiedBy>
  <cp:revision>1</cp:revision>
  <dcterms:created xsi:type="dcterms:W3CDTF">2026-05-07T09:24:04Z</dcterms:created>
  <dcterms:modified xsi:type="dcterms:W3CDTF">2026-05-07T09:24:04Z</dcterms:modified>
</cp:coreProperties>
</file>